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1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75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kind</a:t>
            </a:r>
            <a:r>
              <a:rPr lang="en-US" sz="3200" b="1" dirty="0" err="1">
                <a:solidFill>
                  <a:srgbClr val="2DB3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8869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Infrastructure for Charitable Giving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Personal Update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2004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Radhika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  →  April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3657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Sri G Gopalakrishnan · Founder, KindKart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868680"/>
            <a:ext cx="2331720" cy="25146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37960" y="868680"/>
            <a:ext cx="2331720" cy="73152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7960" y="10058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$1M+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Launch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5786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Horizon  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56032" y="4572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Radhika,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early and generous support of KindKart. Your $100K contribution gave us the freedom to build and scale — without compromise. This is a transparent look at what we have accomplished in the nine months since your support, how we have evolved, and where we are headed.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633472"/>
            <a:ext cx="2651760" cy="17830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2633472"/>
            <a:ext cx="2651760" cy="64008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30815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76072" y="3767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Crossed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633472"/>
            <a:ext cx="2651760" cy="17830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2633472"/>
            <a:ext cx="2651760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0712" y="30815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 Orgs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10712" y="3767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14 States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33472"/>
            <a:ext cx="2651760" cy="17830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2633472"/>
            <a:ext cx="2651760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45352" y="27706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5352" y="308152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245352" y="37673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at our Gala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YOUR SUPPORT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Journey: July 2025 → April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389888"/>
            <a:ext cx="3913632" cy="3182112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3913632" cy="64008"/>
          </a:xfrm>
          <a:prstGeom prst="rect">
            <a:avLst/>
          </a:prstGeom>
          <a:solidFill>
            <a:srgbClr val="8A8A94"/>
          </a:solidFill>
          <a:ln w="12700">
            <a:solidFill>
              <a:srgbClr val="8A8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LAST HEARD FROM 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8A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July 2025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EA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$550K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29968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Donation Volume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907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EA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29968" y="29535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Charities Onboarded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438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EA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6,839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29968" y="348386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 Daily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968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EAE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29968" y="40142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&amp; Villages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25112" y="2697480"/>
            <a:ext cx="493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7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882896" y="1389888"/>
            <a:ext cx="3913632" cy="3182112"/>
          </a:xfrm>
          <a:prstGeom prst="rect">
            <a:avLst/>
          </a:prstGeom>
          <a:solidFill>
            <a:srgbClr val="28282C"/>
          </a:solidFill>
          <a:ln w="12700">
            <a:solidFill>
              <a:srgbClr val="E87028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82896" y="1389888"/>
            <a:ext cx="3913632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65776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6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April 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65776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84848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Donation 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65776" y="29077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84848" y="2953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Orgs Onboarded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65776" y="343814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784848" y="3483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 Daily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65776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784848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Across India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-457200"/>
            <a:ext cx="5486400" cy="5486400"/>
          </a:xfrm>
          <a:prstGeom prst="ellipse">
            <a:avLst/>
          </a:prstGeom>
          <a:solidFill>
            <a:srgbClr val="F0C142">
              <a:alpha val="6000"/>
            </a:srgbClr>
          </a:solidFill>
          <a:ln w="12700">
            <a:solidFill>
              <a:srgbClr val="1A1A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E6E6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Crossed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$1,000,000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6E6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Total Donation Volume  —  In Just Over Two Years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384048" cy="384048"/>
          </a:xfrm>
          <a:prstGeom prst="ellipse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KindKart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3401568"/>
            <a:ext cx="384048" cy="384048"/>
          </a:xfrm>
          <a:prstGeom prst="ellipse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strong donor trust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3401568"/>
            <a:ext cx="384048" cy="384048"/>
          </a:xfrm>
          <a:prstGeom prst="ellipse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scale and momentum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our First Horizon — achieved from launch in August 2023 to April 2026.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Across India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05072" cy="141732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73152" cy="1417320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545336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21408" y="15819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Orgs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21408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 since July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05072" cy="141732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73152" cy="1417320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545336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19088" y="15819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Across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presence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05072" cy="141732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73152" cy="1417320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3145536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2121408" y="31821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21408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community reach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05072" cy="141732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73152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145536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10K+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6419088" y="318211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9088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essential support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Predictable Support, Real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353312"/>
            <a:ext cx="3913632" cy="3200400"/>
          </a:xfrm>
          <a:prstGeom prst="rect">
            <a:avLst/>
          </a:prstGeom>
          <a:solidFill>
            <a:srgbClr val="28282C"/>
          </a:solidFill>
          <a:ln w="12700">
            <a:solidFill>
              <a:srgbClr val="E87028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353312"/>
            <a:ext cx="3913632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481328"/>
            <a:ext cx="3730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40–50%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438912" y="269748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6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Daily Essential Needs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" y="317296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for most partner organizations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368503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 &amp;  Predictable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353312"/>
            <a:ext cx="4160520" cy="6858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353312"/>
            <a:ext cx="64008" cy="685800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3898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2.15M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91072" y="144475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of Kindness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2153412"/>
            <a:ext cx="4160520" cy="6858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2153412"/>
            <a:ext cx="64008" cy="685800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1899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91072" y="224485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KGs of Groceries Delivered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2953512"/>
            <a:ext cx="4160520" cy="6858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953512"/>
            <a:ext cx="64008" cy="685800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9900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787K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91072" y="304495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Meals Served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3753612"/>
            <a:ext cx="4160520" cy="6858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753612"/>
            <a:ext cx="64008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79018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65K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291072" y="384505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 of Milk Delivered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HIGHLIGHT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KindKart Gala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14, 2025  ·  Computer History Museum  ·  Mountain View, 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1737360"/>
            <a:ext cx="2670048" cy="242316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737360"/>
            <a:ext cx="2670048" cy="73152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92024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12064" y="3035808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" y="3474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evening of inspiration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1737360"/>
            <a:ext cx="2670048" cy="242316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737360"/>
            <a:ext cx="2670048" cy="73152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46704" y="192024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3346704" y="3035808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46704" y="3474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Exceeded every expectation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1737360"/>
            <a:ext cx="2670048" cy="242316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3328" y="1737360"/>
            <a:ext cx="2670048" cy="73152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81344" y="192024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1st</a:t>
            </a:r>
            <a:endParaRPr lang="en-US" sz="6800" dirty="0"/>
          </a:p>
        </p:txBody>
      </p:sp>
      <p:sp>
        <p:nvSpPr>
          <p:cNvPr id="18" name="Text 16"/>
          <p:cNvSpPr/>
          <p:nvPr/>
        </p:nvSpPr>
        <p:spPr>
          <a:xfrm>
            <a:off x="6181344" y="3035808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81344" y="347472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KindKart tradition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night of light, where stories of kindness shine ever bright — one heart at a time.”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Transparency Infrastructure for Philanthropy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by delivering essentials. We are now building the transparency layer for all of social giving.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664208"/>
            <a:ext cx="8449056" cy="347472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664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0644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029968"/>
            <a:ext cx="8449056" cy="53035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2029968"/>
            <a:ext cx="54864" cy="530352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Donors, Foundations,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0299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spending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20299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exactly where your donation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— and the impact it creates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578608"/>
            <a:ext cx="8449056" cy="530352"/>
          </a:xfrm>
          <a:prstGeom prst="rect">
            <a:avLst/>
          </a:prstGeom>
          <a:solidFill>
            <a:srgbClr val="383840"/>
          </a:solidFill>
          <a:ln w="12700">
            <a:solidFill>
              <a:srgbClr val="383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578608"/>
            <a:ext cx="54864" cy="530352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0" y="25786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recurring expenses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steady cashflow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25786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guaranteed support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kind for predictable expenses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127248"/>
            <a:ext cx="8449056" cy="53035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54864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12724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312724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inefficiency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impact and speed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31272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for charitable ops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(ServiceNow for nonprofits)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675888"/>
            <a:ext cx="8449056" cy="530352"/>
          </a:xfrm>
          <a:prstGeom prst="rect">
            <a:avLst/>
          </a:prstGeom>
          <a:solidFill>
            <a:srgbClr val="383840"/>
          </a:solidFill>
          <a:ln w="12700">
            <a:solidFill>
              <a:srgbClr val="383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675888"/>
            <a:ext cx="54864" cy="530352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67588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Non-Profits Funded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CSR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0" y="36758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Inefficiency and manual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of impact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06440" y="36758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corporate impact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eliminate reporting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4224528"/>
            <a:ext cx="8449056" cy="53035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4224528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2245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422452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opportunity communicating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back to donors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422452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integration for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donor visibility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of Social Giving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8449056" cy="749808"/>
          </a:xfrm>
          <a:prstGeom prst="rect">
            <a:avLst/>
          </a:prstGeom>
          <a:solidFill>
            <a:srgbClr val="28282C"/>
          </a:solidFill>
          <a:ln w="12700">
            <a:solidFill>
              <a:srgbClr val="E8702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73152" cy="7498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344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17320" y="131673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60934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Donors  ·  Corporates  ·  Private Foundations  ·  Public Foundations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2121408"/>
            <a:ext cx="8449056" cy="749808"/>
          </a:xfrm>
          <a:prstGeom prst="rect">
            <a:avLst/>
          </a:prstGeom>
          <a:solidFill>
            <a:srgbClr val="28282C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2121408"/>
            <a:ext cx="73152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17320" y="21396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CHANNELS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43230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India  ·  Global Giving  ·  Aid India  ·  Other Platforms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6334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Aggregators that embed KindKart's transparency infrastructure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944368"/>
            <a:ext cx="8449056" cy="749808"/>
          </a:xfrm>
          <a:prstGeom prst="rect">
            <a:avLst/>
          </a:prstGeom>
          <a:solidFill>
            <a:srgbClr val="28282C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944368"/>
            <a:ext cx="7315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990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417320" y="29626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NON-PROFITS SaaS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25526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✓  ·  Women Empowerment  ·  Health  ·  Skill &amp; Vocational Training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45643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platform organized by vertical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767328"/>
            <a:ext cx="8449056" cy="749808"/>
          </a:xfrm>
          <a:prstGeom prst="rect">
            <a:avLst/>
          </a:prstGeom>
          <a:solidFill>
            <a:srgbClr val="28282C"/>
          </a:solidFill>
          <a:ln w="12700">
            <a:solidFill>
              <a:srgbClr val="2DB35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767328"/>
            <a:ext cx="73152" cy="7498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813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17320" y="3785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KINDKART MARKETPLACE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07822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in-kind support for grassroots organizations' daily essential needs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42793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orgs  ·  15 states  ·  36 cities  ·  $1M+ donation volume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43400" y="2011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28346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43400" y="3657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 We Have Shipped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70048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21408" y="1490472"/>
            <a:ext cx="749808" cy="256032"/>
          </a:xfrm>
          <a:prstGeom prst="rect">
            <a:avLst/>
          </a:prstGeom>
          <a:solidFill>
            <a:srgbClr val="E87028">
              <a:alpha val="25000"/>
            </a:srgbClr>
          </a:solidFill>
          <a:ln w="635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21408" y="14904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Marketplace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Donors, Beneficiaries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70048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56048" y="1490472"/>
            <a:ext cx="749808" cy="256032"/>
          </a:xfrm>
          <a:prstGeom prst="rect">
            <a:avLst/>
          </a:prstGeom>
          <a:solidFill>
            <a:srgbClr val="E87028">
              <a:alpha val="25000"/>
            </a:srgbClr>
          </a:solidFill>
          <a:ln w="635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56048" y="14904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App 2.0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37744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70048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90688" y="1490472"/>
            <a:ext cx="749808" cy="256032"/>
          </a:xfrm>
          <a:prstGeom prst="rect">
            <a:avLst/>
          </a:prstGeom>
          <a:solidFill>
            <a:srgbClr val="E87028">
              <a:alpha val="25000"/>
            </a:srgbClr>
          </a:solidFill>
          <a:ln w="635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90688" y="149047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82880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Donor Marketplace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(India)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2670048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121408" y="3273552"/>
            <a:ext cx="749808" cy="256032"/>
          </a:xfrm>
          <a:prstGeom prst="rect">
            <a:avLst/>
          </a:prstGeom>
          <a:solidFill>
            <a:srgbClr val="2DB352">
              <a:alpha val="25000"/>
            </a:srgbClr>
          </a:solidFill>
          <a:ln w="635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2140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Mgmt Platform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416052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10896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670048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56048" y="3273552"/>
            <a:ext cx="749808" cy="256032"/>
          </a:xfrm>
          <a:prstGeom prst="rect">
            <a:avLst/>
          </a:prstGeom>
          <a:solidFill>
            <a:srgbClr val="2DB352">
              <a:alpha val="25000"/>
            </a:srgbClr>
          </a:solidFill>
          <a:ln w="635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5604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KindKash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37560" y="416052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10896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0" y="3108960"/>
            <a:ext cx="2670048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90688" y="3273552"/>
            <a:ext cx="749808" cy="256032"/>
          </a:xfrm>
          <a:prstGeom prst="rect">
            <a:avLst/>
          </a:prstGeom>
          <a:solidFill>
            <a:srgbClr val="2DB352">
              <a:alpha val="25000"/>
            </a:srgbClr>
          </a:solidFill>
          <a:ln w="635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90688" y="32735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6118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Report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72200" y="416052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PRODUCT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7004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12848" y="1490472"/>
            <a:ext cx="658368" cy="256032"/>
          </a:xfrm>
          <a:prstGeom prst="rect">
            <a:avLst/>
          </a:prstGeom>
          <a:solidFill>
            <a:srgbClr val="14B8A6">
              <a:alpha val="25000"/>
            </a:srgbClr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12848" y="1490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7004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47488" y="1490472"/>
            <a:ext cx="658368" cy="256032"/>
          </a:xfrm>
          <a:prstGeom prst="rect">
            <a:avLst/>
          </a:prstGeom>
          <a:solidFill>
            <a:srgbClr val="14B8A6">
              <a:alpha val="25000"/>
            </a:srgbClr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47488" y="1490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7004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82128" y="1490472"/>
            <a:ext cx="658368" cy="256032"/>
          </a:xfrm>
          <a:prstGeom prst="rect">
            <a:avLst/>
          </a:prstGeom>
          <a:solidFill>
            <a:srgbClr val="14B8A6">
              <a:alpha val="25000"/>
            </a:srgbClr>
          </a:solidFill>
          <a:ln w="63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82128" y="14904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82880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Mentoring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24688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F0C14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108960"/>
            <a:ext cx="2670048" cy="64008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12848" y="3273552"/>
            <a:ext cx="658368" cy="256032"/>
          </a:xfrm>
          <a:prstGeom prst="rect">
            <a:avLst/>
          </a:prstGeom>
          <a:solidFill>
            <a:srgbClr val="F0C142">
              <a:alpha val="25000"/>
            </a:srgbClr>
          </a:solidFill>
          <a:ln w="635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12848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6118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Management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0" y="310896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F0C14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670048" cy="64008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47488" y="3273552"/>
            <a:ext cx="658368" cy="256032"/>
          </a:xfrm>
          <a:prstGeom prst="rect">
            <a:avLst/>
          </a:prstGeom>
          <a:solidFill>
            <a:srgbClr val="F0C142">
              <a:alpha val="25000"/>
            </a:srgbClr>
          </a:solidFill>
          <a:ln w="635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47488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6118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Delivery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37560" y="42519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Partners, Corporates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108960"/>
            <a:ext cx="2670048" cy="1600200"/>
          </a:xfrm>
          <a:prstGeom prst="rect">
            <a:avLst/>
          </a:prstGeom>
          <a:solidFill>
            <a:srgbClr val="28282C"/>
          </a:solidFill>
          <a:ln w="12700">
            <a:solidFill>
              <a:srgbClr val="9B72C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0" y="3108960"/>
            <a:ext cx="2670048" cy="64008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882128" y="3273552"/>
            <a:ext cx="658368" cy="256032"/>
          </a:xfrm>
          <a:prstGeom prst="rect">
            <a:avLst/>
          </a:prstGeom>
          <a:solidFill>
            <a:srgbClr val="9B72CF">
              <a:alpha val="25000"/>
            </a:srgbClr>
          </a:solidFill>
          <a:ln w="635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82128" y="32735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361188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172200" y="42519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School Teachers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Development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transitioning to an AI-driven software development model — enabling us to ship faster, at lower cost, and with a leaner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743200" cy="237744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7432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Iteration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development accelerates feature delivery across all products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828800"/>
            <a:ext cx="2743200" cy="237744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828800"/>
            <a:ext cx="2743200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engineering overhead through AI code generation and agentic workflows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63056" y="1828800"/>
            <a:ext cx="2743200" cy="237744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63056" y="1828800"/>
            <a:ext cx="2743200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Workflows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27648" y="2578608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 production for scholarship selection, impact reporting, and operations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343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allows KindKart to build 6 new products in 2026 with a fraction of traditional engineering cost.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Behind the 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0976" y="1371600"/>
            <a:ext cx="987552" cy="987552"/>
          </a:xfrm>
          <a:prstGeom prst="ellipse">
            <a:avLst/>
          </a:prstGeom>
          <a:solidFill>
            <a:srgbClr val="E87028">
              <a:alpha val="75000"/>
            </a:srgbClr>
          </a:solidFill>
          <a:ln w="254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976" y="137160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487168"/>
            <a:ext cx="2011680" cy="20116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2011680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Gopalakrishnan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2186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Ex-VP PayPal &amp; eBay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18104" y="1371600"/>
            <a:ext cx="987552" cy="987552"/>
          </a:xfrm>
          <a:prstGeom prst="ellipse">
            <a:avLst/>
          </a:prstGeom>
          <a:solidFill>
            <a:srgbClr val="2DB352">
              <a:alpha val="75000"/>
            </a:srgbClr>
          </a:solidFill>
          <a:ln w="254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18104" y="137160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532888" y="2487168"/>
            <a:ext cx="2011680" cy="20116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2487168"/>
            <a:ext cx="2011680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42616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Memuri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42616" y="32186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Logistics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2616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across India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85232" y="1371600"/>
            <a:ext cx="987552" cy="987552"/>
          </a:xfrm>
          <a:prstGeom prst="ellipse">
            <a:avLst/>
          </a:prstGeom>
          <a:solidFill>
            <a:srgbClr val="14B8A6">
              <a:alpha val="75000"/>
            </a:srgbClr>
          </a:solidFill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85232" y="137160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700016" y="2487168"/>
            <a:ext cx="2011680" cy="20116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0016" y="2487168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09744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Anshuman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9744" y="32186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Product &amp; Tech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leadership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1371600"/>
            <a:ext cx="987552" cy="987552"/>
          </a:xfrm>
          <a:prstGeom prst="ellipse">
            <a:avLst/>
          </a:prstGeom>
          <a:solidFill>
            <a:srgbClr val="F0C142">
              <a:alpha val="75000"/>
            </a:srgbClr>
          </a:solidFill>
          <a:ln w="254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52360" y="137160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6867144" y="2487168"/>
            <a:ext cx="2011680" cy="2011680"/>
          </a:xfrm>
          <a:prstGeom prst="rect">
            <a:avLst/>
          </a:prstGeom>
          <a:solidFill>
            <a:srgbClr val="28282C"/>
          </a:solidFill>
          <a:ln w="12700">
            <a:solidFill>
              <a:srgbClr val="383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67144" y="2487168"/>
            <a:ext cx="2011680" cy="64008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76872" y="26060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Ranjan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76872" y="321868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Impact Officer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76872" y="370332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partnerships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3542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Head of Charity &amp; Volunteer Operations (former ServiceNow)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8449056" cy="43891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64008" cy="438912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Donation Volume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2984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0" y="12984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from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73936"/>
            <a:ext cx="8449056" cy="438912"/>
          </a:xfrm>
          <a:prstGeom prst="rect">
            <a:avLst/>
          </a:prstGeom>
          <a:solidFill>
            <a:srgbClr val="383840"/>
          </a:solidFill>
          <a:ln w="12700">
            <a:solidFill>
              <a:srgbClr val="383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773936"/>
            <a:ext cx="64008" cy="438912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7393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Grassroots Network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7739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17739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new orgs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249424"/>
            <a:ext cx="8449056" cy="43891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249424"/>
            <a:ext cx="64008" cy="438912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2494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Corporate Giving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2494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852160" y="22494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increase from 2025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24912"/>
            <a:ext cx="8449056" cy="438912"/>
          </a:xfrm>
          <a:prstGeom prst="rect">
            <a:avLst/>
          </a:prstGeom>
          <a:solidFill>
            <a:srgbClr val="383840"/>
          </a:solidFill>
          <a:ln w="12700">
            <a:solidFill>
              <a:srgbClr val="383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2724912"/>
            <a:ext cx="64008" cy="4389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7249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Standard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27249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52160" y="272491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audit, all orgs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200400"/>
            <a:ext cx="8449056" cy="43891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200400"/>
            <a:ext cx="64008" cy="4389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20040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Non-Profit SaaS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3200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52160" y="32004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→ $100K revenue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3675888"/>
            <a:ext cx="8449056" cy="438912"/>
          </a:xfrm>
          <a:prstGeom prst="rect">
            <a:avLst/>
          </a:prstGeom>
          <a:solidFill>
            <a:srgbClr val="383840"/>
          </a:solidFill>
          <a:ln w="12700">
            <a:solidFill>
              <a:srgbClr val="383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3675888"/>
            <a:ext cx="64008" cy="438912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6758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Margins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97680" y="36758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72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852160" y="3675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top 10 products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4151376"/>
            <a:ext cx="8449056" cy="438912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47472" y="4151376"/>
            <a:ext cx="64008" cy="438912"/>
          </a:xfrm>
          <a:prstGeom prst="rect">
            <a:avLst/>
          </a:prstGeom>
          <a:solidFill>
            <a:srgbClr val="E8507A"/>
          </a:solidFill>
          <a:ln w="12700">
            <a:solidFill>
              <a:srgbClr val="E85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1513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Excellence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297680" y="415137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5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852160" y="415137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within 7 days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Four-Entity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counsel: Oban and Mason (New Delhi) — referred by Priya Devaan, Chief Legal Counsel at Akasa Air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572768"/>
            <a:ext cx="3291840" cy="868680"/>
          </a:xfrm>
          <a:prstGeom prst="rect">
            <a:avLst/>
          </a:prstGeom>
          <a:solidFill>
            <a:srgbClr val="28282C"/>
          </a:solidFill>
          <a:ln w="12700">
            <a:solidFill>
              <a:srgbClr val="F0C14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1572768"/>
            <a:ext cx="3291840" cy="54864"/>
          </a:xfrm>
          <a:prstGeom prst="rect">
            <a:avLst/>
          </a:prstGeom>
          <a:solidFill>
            <a:srgbClr val="F0C142"/>
          </a:solidFill>
          <a:ln w="12700">
            <a:solidFill>
              <a:srgbClr val="F0C1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Holding Company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19933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trademarks, software assets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21762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EXECUTION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23160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↙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72200" y="2395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" y="2788920"/>
            <a:ext cx="3840480" cy="868680"/>
          </a:xfrm>
          <a:prstGeom prst="rect">
            <a:avLst/>
          </a:prstGeom>
          <a:solidFill>
            <a:srgbClr val="28282C"/>
          </a:solidFill>
          <a:ln w="12700">
            <a:solidFill>
              <a:srgbClr val="E8702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788920"/>
            <a:ext cx="3840480" cy="54864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Inc (US)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1868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501(c)(3)  ·  US donor marketplace, fundraising, grants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0672" y="2880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956048" y="2788920"/>
            <a:ext cx="3840480" cy="868680"/>
          </a:xfrm>
          <a:prstGeom prst="rect">
            <a:avLst/>
          </a:prstGeom>
          <a:solidFill>
            <a:srgbClr val="28282C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56048" y="2788920"/>
            <a:ext cx="38404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49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Private Limited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21868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reseller/distributor + logistics operations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5240" y="2880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EXECUTION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3639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639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0" y="3639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funds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3913632"/>
            <a:ext cx="5120640" cy="749808"/>
          </a:xfrm>
          <a:prstGeom prst="rect">
            <a:avLst/>
          </a:prstGeom>
          <a:solidFill>
            <a:srgbClr val="28282C"/>
          </a:solidFill>
          <a:ln w="12700">
            <a:solidFill>
              <a:srgbClr val="2DB352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1680" y="3913632"/>
            <a:ext cx="5120640" cy="54864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148840" y="4005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India Foundation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48840" y="43159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Company  ·  Charitable operations in India  ·  Grassroots org support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89320" y="4005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Self-Reinforcing Funding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revenue from the SaaS platform — combined with donations — funds grassroots charitable operations. Commercial scale directly amplifies charitable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2670048" cy="2194560"/>
          </a:xfrm>
          <a:prstGeom prst="rect">
            <a:avLst/>
          </a:prstGeom>
          <a:solidFill>
            <a:srgbClr val="28282C"/>
          </a:solidFill>
          <a:ln w="12700">
            <a:solidFill>
              <a:srgbClr val="14B8A6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70048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219456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Licensing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29718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non-profit partners pay for operational efficiency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2670048" cy="2194560"/>
          </a:xfrm>
          <a:prstGeom prst="rect">
            <a:avLst/>
          </a:prstGeom>
          <a:solidFill>
            <a:srgbClr val="28282C"/>
          </a:solidFill>
          <a:ln w="12700">
            <a:solidFill>
              <a:srgbClr val="E87028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670048" cy="64008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64992" y="219456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64992" y="29718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corporate, and foundation donations via marketplace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70048" cy="2194560"/>
          </a:xfrm>
          <a:prstGeom prst="rect">
            <a:avLst/>
          </a:prstGeom>
          <a:solidFill>
            <a:srgbClr val="28282C"/>
          </a:solidFill>
          <a:ln w="12700">
            <a:solidFill>
              <a:srgbClr val="2DB352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70048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2194560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Grassroots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99632" y="29718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combined revenue funds predictable essential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150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"At scale, our impact grows faster than our costs — and our operating costs approach zero."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HORIZON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Just
</a:t>
            </a:r>
            <a:r>
              <a:rPr lang="en-US" sz="4400" b="1" dirty="0">
                <a:solidFill>
                  <a:srgbClr val="2DB3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crossed our first horizon. Our goal is to scale to $2M in total donation volume and 150+ organizations — and your support is a direct lever for that growth.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724912"/>
            <a:ext cx="4892040" cy="1783080"/>
          </a:xfrm>
          <a:prstGeom prst="rect">
            <a:avLst/>
          </a:prstGeom>
          <a:solidFill>
            <a:srgbClr val="28282C"/>
          </a:solidFill>
          <a:ln w="12700">
            <a:solidFill>
              <a:srgbClr val="2DB352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2724912"/>
            <a:ext cx="4892040" cy="64008"/>
          </a:xfrm>
          <a:prstGeom prst="rect">
            <a:avLst/>
          </a:prstGeom>
          <a:solidFill>
            <a:srgbClr val="2DB352"/>
          </a:solidFill>
          <a:ln w="12700">
            <a:solidFill>
              <a:srgbClr val="2DB3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B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Opex Gap to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earns ~25% product margin from operations. To scale from $1M → $2M in donations, we need OpEx funding for engineering, fulfillment, and growth infrastructure.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950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$100K in OpEx support for FY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32120" y="1188720"/>
            <a:ext cx="3310128" cy="3401568"/>
          </a:xfrm>
          <a:prstGeom prst="rect">
            <a:avLst/>
          </a:prstGeom>
          <a:solidFill>
            <a:srgbClr val="28282C"/>
          </a:solidFill>
          <a:ln w="12700">
            <a:solidFill>
              <a:srgbClr val="E87028"/>
            </a:solidFill>
            <a:prstDash val="solid"/>
          </a:ln>
          <a:effectLst>
            <a:outerShdw blurRad="127000" dist="508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32120" y="1188720"/>
            <a:ext cx="3310128" cy="73152"/>
          </a:xfrm>
          <a:prstGeom prst="rect">
            <a:avLst/>
          </a:prstGeom>
          <a:solidFill>
            <a:srgbClr val="E87028"/>
          </a:solidFill>
          <a:ln w="12700">
            <a:solidFill>
              <a:srgbClr val="E87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87568" y="132588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Impact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 Year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87568" y="2121408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→ $1M+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donation volume reached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87568" y="2880360"/>
            <a:ext cx="2816352" cy="27432"/>
          </a:xfrm>
          <a:prstGeom prst="rect">
            <a:avLst/>
          </a:prstGeom>
          <a:solidFill>
            <a:srgbClr val="383840"/>
          </a:solidFill>
          <a:ln w="12700">
            <a:solidFill>
              <a:srgbClr val="383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87568" y="299923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Us Again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87568" y="3511296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reach our Second Horizon. Your support directly funds the infrastructure enabling transparent giving for thousands of grassroots organizations across India.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7568" y="42793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sri@kindkart.com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8282C"/>
          </a:solidFill>
          <a:ln w="12700">
            <a:solidFill>
              <a:srgbClr val="28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sri@kindkart.com  ·  April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818888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kindkart  ·  Sponsor Update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1311</Words>
  <Application>Microsoft Macintosh PowerPoint</Application>
  <PresentationFormat>On-screen Show (16:9)</PresentationFormat>
  <Paragraphs>341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KindKart Sponsor Update – Radhika – April 2026</dc:title>
  <dc:subject>PptxGenJS Presentation</dc:subject>
  <dc:creator>Sri G Gopalakrishnan</dc:creator>
  <cp:lastModifiedBy>Srikrishna Gopalakrishnan</cp:lastModifiedBy>
  <cp:revision>2</cp:revision>
  <dcterms:created xsi:type="dcterms:W3CDTF">2026-04-09T17:06:02Z</dcterms:created>
  <dcterms:modified xsi:type="dcterms:W3CDTF">2026-04-09T17:32:16Z</dcterms:modified>
</cp:coreProperties>
</file>